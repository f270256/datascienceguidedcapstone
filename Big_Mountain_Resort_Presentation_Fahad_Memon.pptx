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AFD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C99"/>
          </a:solidFill>
          <a:ln cap="flat" cmpd="sng" w="12700">
            <a:solidFill>
              <a:srgbClr val="1F5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156716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56716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B63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9BE0"/>
          </a:solidFill>
          <a:ln cap="flat" cmpd="sng" w="12700">
            <a:solidFill>
              <a:srgbClr val="5B9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3064950" y="2393875"/>
            <a:ext cx="6062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Big Mountain Resort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Pricing Recommendation</a:t>
            </a:r>
            <a:endParaRPr b="1" i="0" sz="30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by: Fahad Memon</a:t>
            </a:r>
            <a:endParaRPr b="1" sz="30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" name="Google Shape;23;p4"/>
          <p:cNvSpPr txBox="1"/>
          <p:nvPr>
            <p:ph idx="4294967295" type="sldNum"/>
          </p:nvPr>
        </p:nvSpPr>
        <p:spPr>
          <a:xfrm>
            <a:off x="1156716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594360" y="347472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3"/>
                </a:solidFill>
                <a:latin typeface="Play"/>
                <a:ea typeface="Play"/>
                <a:cs typeface="Play"/>
                <a:sym typeface="Play"/>
              </a:rPr>
              <a:t>1. Problem identification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594360" y="960120"/>
            <a:ext cx="4754880" cy="5166360"/>
          </a:xfrm>
          <a:prstGeom prst="roundRect">
            <a:avLst>
              <a:gd fmla="val 1538" name="adj"/>
            </a:avLst>
          </a:prstGeom>
          <a:solidFill>
            <a:srgbClr val="FFFF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868680" y="12344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Business question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868680" y="160020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Is Big Mountain charging too little for an adult weekend ticket?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868680" y="2651760"/>
            <a:ext cx="39319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The current adult weekend ticket price is $81.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868680" y="3291840"/>
            <a:ext cx="39319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The resort has strong facilities compared with many other resorts.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868680" y="4046220"/>
            <a:ext cx="3931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Management needs a clear pricing recommendation</a:t>
            </a:r>
            <a:r>
              <a:rPr lang="en-US" sz="1800">
                <a:solidFill>
                  <a:srgbClr val="243446"/>
                </a:solidFill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5623560" y="960120"/>
            <a:ext cx="5989320" cy="5166360"/>
          </a:xfrm>
          <a:prstGeom prst="roundRect">
            <a:avLst>
              <a:gd fmla="val 1416" name="adj"/>
            </a:avLst>
          </a:prstGeom>
          <a:solidFill>
            <a:srgbClr val="F9FC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5989320" y="1417320"/>
            <a:ext cx="2286000" cy="1508760"/>
          </a:xfrm>
          <a:prstGeom prst="roundRect">
            <a:avLst>
              <a:gd fmla="val 4848" name="adj"/>
            </a:avLst>
          </a:prstGeom>
          <a:solidFill>
            <a:srgbClr val="EAF2FB"/>
          </a:solidFill>
          <a:ln cap="flat" cmpd="sng" w="12700">
            <a:solidFill>
              <a:srgbClr val="C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8915400" y="1417320"/>
            <a:ext cx="2286000" cy="1508760"/>
          </a:xfrm>
          <a:prstGeom prst="roundRect">
            <a:avLst>
              <a:gd fmla="val 4848" name="adj"/>
            </a:avLst>
          </a:prstGeom>
          <a:solidFill>
            <a:srgbClr val="123B63"/>
          </a:solidFill>
          <a:ln cap="flat" cmpd="sng" w="12700">
            <a:solidFill>
              <a:srgbClr val="123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6355080" y="170992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$81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291072" y="2221992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596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C5969"/>
                </a:solidFill>
                <a:latin typeface="Arial"/>
                <a:ea typeface="Arial"/>
                <a:cs typeface="Arial"/>
                <a:sym typeface="Arial"/>
              </a:rPr>
              <a:t>Current price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9235440" y="170992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$95.87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9098280" y="2221992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9F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9E9F8"/>
                </a:solidFill>
                <a:latin typeface="Arial"/>
                <a:ea typeface="Arial"/>
                <a:cs typeface="Arial"/>
                <a:sym typeface="Arial"/>
              </a:rPr>
              <a:t>Model-supported price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8394192" y="1847088"/>
            <a:ext cx="237744" cy="475488"/>
          </a:xfrm>
          <a:prstGeom prst="chevron">
            <a:avLst>
              <a:gd fmla="val 50000" name="adj"/>
            </a:avLst>
          </a:prstGeom>
          <a:solidFill>
            <a:srgbClr val="8BB9E8"/>
          </a:solidFill>
          <a:ln cap="flat" cmpd="sng" w="12700">
            <a:solidFill>
              <a:srgbClr val="8BB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989320" y="3291840"/>
            <a:ext cx="4983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This gap suggests the resort may be underpriced in the market.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172200" y="4069080"/>
            <a:ext cx="4572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The recommendation should balance revenue opportunity and model uncertainty.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172200" y="4663440"/>
            <a:ext cx="4572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A gradual move is safer than one large jump.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 txBox="1"/>
          <p:nvPr>
            <p:ph idx="4294967295" type="sldNum"/>
          </p:nvPr>
        </p:nvSpPr>
        <p:spPr>
          <a:xfrm>
            <a:off x="1156716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594360" y="347472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3"/>
                </a:solidFill>
                <a:latin typeface="Play"/>
                <a:ea typeface="Play"/>
                <a:cs typeface="Play"/>
                <a:sym typeface="Play"/>
              </a:rPr>
              <a:t>2. Recommendation and key findings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594360" y="960120"/>
            <a:ext cx="3840480" cy="521208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868680" y="123444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868680" y="1572768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Raise the price in steps, starting around $86 to $90.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868680" y="251460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Do not jump straight to $96. The model still has about $10 average error.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68743" y="3401569"/>
            <a:ext cx="315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After the first increase, track sales, revenue, and guest feedback.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868618" y="4150938"/>
            <a:ext cx="315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If demand stays strong, move toward about $92 to $96.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051560" y="5184648"/>
            <a:ext cx="2606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5969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4663440" y="960120"/>
            <a:ext cx="6949440" cy="5212080"/>
          </a:xfrm>
          <a:prstGeom prst="roundRect">
            <a:avLst>
              <a:gd fmla="val 1404" name="adj"/>
            </a:avLst>
          </a:prstGeom>
          <a:solidFill>
            <a:srgbClr val="F9FC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fig4_recommendation_path.png" id="62" name="Google Shape;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645482"/>
            <a:ext cx="6355080" cy="338415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5074920" y="53492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596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C5969"/>
                </a:solidFill>
                <a:latin typeface="Arial"/>
                <a:ea typeface="Arial"/>
                <a:cs typeface="Arial"/>
                <a:sym typeface="Arial"/>
              </a:rPr>
              <a:t>Suggested path: test a smaller increase first, then decide on the next step using real demand data.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 txBox="1"/>
          <p:nvPr>
            <p:ph idx="4294967295" type="sldNum"/>
          </p:nvPr>
        </p:nvSpPr>
        <p:spPr>
          <a:xfrm>
            <a:off x="1156716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594360" y="347472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3"/>
                </a:solidFill>
                <a:latin typeface="Play"/>
                <a:ea typeface="Play"/>
                <a:cs typeface="Play"/>
                <a:sym typeface="Play"/>
              </a:rPr>
              <a:t>3. Modeling results: how the recommendation was built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9829800" y="38404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594360" y="960120"/>
            <a:ext cx="6583680" cy="5212080"/>
          </a:xfrm>
          <a:prstGeom prst="roundRect">
            <a:avLst>
              <a:gd fmla="val 1404" name="adj"/>
            </a:avLst>
          </a:prstGeom>
          <a:solidFill>
            <a:srgbClr val="FFFF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fig3_model_comparison.png" id="73" name="Google Shape;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593776"/>
            <a:ext cx="6035040" cy="357900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/>
          <p:nvPr/>
        </p:nvSpPr>
        <p:spPr>
          <a:xfrm>
            <a:off x="1005840" y="5504688"/>
            <a:ext cx="5577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596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C5969"/>
                </a:solidFill>
                <a:latin typeface="Arial"/>
                <a:ea typeface="Arial"/>
                <a:cs typeface="Arial"/>
                <a:sym typeface="Arial"/>
              </a:rPr>
              <a:t>Random forest had the lowest error, so it became the final model.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7360920" y="960120"/>
            <a:ext cx="4251960" cy="5212080"/>
          </a:xfrm>
          <a:prstGeom prst="roundRect">
            <a:avLst>
              <a:gd fmla="val 1720" name="adj"/>
            </a:avLst>
          </a:prstGeom>
          <a:solidFill>
            <a:srgbClr val="FFFF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7635240" y="12344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Simple process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7635240" y="1627632"/>
            <a:ext cx="3611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Start with 330 resorts and clean the data down to 277 usable resorts.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7635240" y="2340864"/>
            <a:ext cx="3611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Create extra features, such as chairs per run and state context.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7635240" y="3054096"/>
            <a:ext cx="3611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Compare a baseline, linear regression, and random forest using MAE in dollars.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7635240" y="4160520"/>
            <a:ext cx="3611880" cy="1417320"/>
          </a:xfrm>
          <a:prstGeom prst="roundRect">
            <a:avLst>
              <a:gd fmla="val 6400" name="adj"/>
            </a:avLst>
          </a:prstGeom>
          <a:solidFill>
            <a:srgbClr val="EAF2FB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7909560" y="43159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72C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72C4"/>
                </a:solidFill>
                <a:latin typeface="Arial"/>
                <a:ea typeface="Arial"/>
                <a:cs typeface="Arial"/>
                <a:sym typeface="Arial"/>
              </a:rPr>
              <a:t>Winning model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909560" y="455371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47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4475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4475"/>
                </a:solidFill>
                <a:latin typeface="Arial"/>
                <a:ea typeface="Arial"/>
                <a:cs typeface="Arial"/>
                <a:sym typeface="Arial"/>
              </a:rPr>
              <a:t>MAE ≈ $9.6</a:t>
            </a:r>
            <a:endParaRPr/>
          </a:p>
        </p:txBody>
      </p:sp>
      <p:sp>
        <p:nvSpPr>
          <p:cNvPr id="83" name="Google Shape;83;p7"/>
          <p:cNvSpPr txBox="1"/>
          <p:nvPr>
            <p:ph idx="4294967295" type="sldNum"/>
          </p:nvPr>
        </p:nvSpPr>
        <p:spPr>
          <a:xfrm>
            <a:off x="1156716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594360" y="347472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3"/>
                </a:solidFill>
                <a:latin typeface="Play"/>
                <a:ea typeface="Play"/>
                <a:cs typeface="Play"/>
                <a:sym typeface="Play"/>
              </a:rPr>
              <a:t>4. Market context: Big Mountain is priced below the supported level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9829800" y="38404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594360" y="960120"/>
            <a:ext cx="3657600" cy="521208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868680" y="123444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What the chart shows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868642" y="1814920"/>
            <a:ext cx="288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The dashed line is the current Big Mountain price: $81.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868655" y="2739539"/>
            <a:ext cx="288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The solid line is the model-supported price: about $96.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868655" y="3790334"/>
            <a:ext cx="288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Big Mountain sits below the level suggested by similar resort features.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480560" y="960120"/>
            <a:ext cx="7132320" cy="5212080"/>
          </a:xfrm>
          <a:prstGeom prst="roundRect">
            <a:avLst>
              <a:gd fmla="val 1404" name="adj"/>
            </a:avLst>
          </a:prstGeom>
          <a:solidFill>
            <a:srgbClr val="FFFF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fig1_price_distribution.png" id="97" name="Google Shape;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60" y="1730579"/>
            <a:ext cx="6675120" cy="344256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 txBox="1"/>
          <p:nvPr>
            <p:ph idx="4294967295" type="sldNum"/>
          </p:nvPr>
        </p:nvSpPr>
        <p:spPr>
          <a:xfrm>
            <a:off x="1156716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/>
          <p:nvPr/>
        </p:nvSpPr>
        <p:spPr>
          <a:xfrm>
            <a:off x="594360" y="347472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3"/>
                </a:solidFill>
                <a:latin typeface="Play"/>
                <a:ea typeface="Play"/>
                <a:cs typeface="Play"/>
                <a:sym typeface="Play"/>
              </a:rPr>
              <a:t>5. What supports a higher price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9829800" y="38404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594360" y="960120"/>
            <a:ext cx="5760720" cy="5212080"/>
          </a:xfrm>
          <a:prstGeom prst="roundRect">
            <a:avLst>
              <a:gd fmla="val 1404" name="adj"/>
            </a:avLst>
          </a:prstGeom>
          <a:solidFill>
            <a:srgbClr val="FFFF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fig2a_features_rank.png"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525441"/>
            <a:ext cx="5257800" cy="399914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/>
          <p:nvPr/>
        </p:nvSpPr>
        <p:spPr>
          <a:xfrm>
            <a:off x="6583680" y="960120"/>
            <a:ext cx="5029200" cy="5212080"/>
          </a:xfrm>
          <a:prstGeom prst="roundRect">
            <a:avLst>
              <a:gd fmla="val 1455" name="adj"/>
            </a:avLst>
          </a:prstGeom>
          <a:solidFill>
            <a:srgbClr val="FFFF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6858000" y="1261872"/>
            <a:ext cx="4114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Big Mountain is strong on important resort features.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6858000" y="1965960"/>
            <a:ext cx="4069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The resort is near the top of the market for skiable terrain, snow making, total chairs, fast quads, and runs.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6858000" y="2679192"/>
            <a:ext cx="4069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These features are also linked with higher ticket prices in the models.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6858000" y="3392424"/>
            <a:ext cx="4069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This helps explain why the model says the current price looks low.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6858000" y="4553712"/>
            <a:ext cx="4023360" cy="804672"/>
          </a:xfrm>
          <a:prstGeom prst="roundRect">
            <a:avLst>
              <a:gd fmla="val 9091" name="adj"/>
            </a:avLst>
          </a:prstGeom>
          <a:solidFill>
            <a:srgbClr val="EAF2FB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7114032" y="4800600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Main drivers: vertical drop, snow making, total chairs, fast quads, and runs.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>
            <p:ph idx="4294967295" type="sldNum"/>
          </p:nvPr>
        </p:nvSpPr>
        <p:spPr>
          <a:xfrm>
            <a:off x="1156716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/>
          <p:nvPr/>
        </p:nvSpPr>
        <p:spPr>
          <a:xfrm>
            <a:off x="594360" y="347472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3"/>
                </a:solidFill>
                <a:latin typeface="Play"/>
                <a:ea typeface="Play"/>
                <a:cs typeface="Play"/>
                <a:sym typeface="Play"/>
              </a:rPr>
              <a:t>6. Scenario analysis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9829800" y="38404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OPTIONS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594360" y="960120"/>
            <a:ext cx="6537960" cy="5212080"/>
          </a:xfrm>
          <a:prstGeom prst="roundRect">
            <a:avLst>
              <a:gd fmla="val 1404" name="adj"/>
            </a:avLst>
          </a:prstGeom>
          <a:solidFill>
            <a:srgbClr val="FFFF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7315200" y="960120"/>
            <a:ext cx="4297680" cy="52120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7589520" y="12344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Main lessons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7589520" y="1664208"/>
            <a:ext cx="36576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Best upside: add 1 run, 150 feet of vertical drop, and 1 chair lift.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7589520" y="2395728"/>
            <a:ext cx="36576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Model impact: about +$1.99 per ticket.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7589520" y="3127248"/>
            <a:ext cx="36576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That equals about $3.47M gross seasonal revenue before extra costs.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7589520" y="4160520"/>
            <a:ext cx="3566160" cy="896112"/>
          </a:xfrm>
          <a:prstGeom prst="roundRect">
            <a:avLst>
              <a:gd fmla="val 8163" name="adj"/>
            </a:avLst>
          </a:prstGeom>
          <a:solidFill>
            <a:srgbClr val="EAF2FB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7818120" y="441655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596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C5969"/>
                </a:solidFill>
                <a:latin typeface="Arial"/>
                <a:ea typeface="Arial"/>
                <a:cs typeface="Arial"/>
                <a:sym typeface="Arial"/>
              </a:rPr>
              <a:t>Risk to watch: closing many runs reduces price support, especially after about 3 runs.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"/>
          <p:cNvSpPr txBox="1"/>
          <p:nvPr>
            <p:ph idx="4294967295" type="sldNum"/>
          </p:nvPr>
        </p:nvSpPr>
        <p:spPr>
          <a:xfrm>
            <a:off x="1156716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proved_scenario_results.png" id="132" name="Google Shape;1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1216152"/>
            <a:ext cx="5394960" cy="4526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/>
          <p:nvPr/>
        </p:nvSpPr>
        <p:spPr>
          <a:xfrm>
            <a:off x="594360" y="347472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3"/>
                </a:solidFill>
                <a:latin typeface="Play"/>
                <a:ea typeface="Play"/>
                <a:cs typeface="Play"/>
                <a:sym typeface="Play"/>
              </a:rPr>
              <a:t>7. Summary and conclusion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594360" y="1024128"/>
            <a:ext cx="11018520" cy="5074920"/>
          </a:xfrm>
          <a:prstGeom prst="roundRect">
            <a:avLst>
              <a:gd fmla="val 1441" name="adj"/>
            </a:avLst>
          </a:prstGeom>
          <a:solidFill>
            <a:srgbClr val="FFFF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896112" y="1280160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Final recommendation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896112" y="1664208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Big Mountain should raise the adult weekend ticket price gradually, not all at once.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914400" y="2423160"/>
            <a:ext cx="3246120" cy="2423160"/>
          </a:xfrm>
          <a:prstGeom prst="roundRect">
            <a:avLst>
              <a:gd fmla="val 3019" name="adj"/>
            </a:avLst>
          </a:prstGeom>
          <a:solidFill>
            <a:srgbClr val="F9FC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1170432" y="26974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Action now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170432" y="3063240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Test a move from $81 to about $86–$90.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1170432" y="3721608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Track revenue, ticket sales, and guest feedback.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4480560" y="2423160"/>
            <a:ext cx="3246120" cy="2423160"/>
          </a:xfrm>
          <a:prstGeom prst="roundRect">
            <a:avLst>
              <a:gd fmla="val 3019" name="adj"/>
            </a:avLst>
          </a:prstGeom>
          <a:solidFill>
            <a:srgbClr val="F9FC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"/>
          <p:cNvSpPr/>
          <p:nvPr/>
        </p:nvSpPr>
        <p:spPr>
          <a:xfrm>
            <a:off x="4736592" y="26974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If demand stays strong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4736592" y="3063240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Move toward about $92–$96.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4736592" y="3721608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Use a measured test-and-learn approach.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8046720" y="2423160"/>
            <a:ext cx="3246120" cy="2423160"/>
          </a:xfrm>
          <a:prstGeom prst="roundRect">
            <a:avLst>
              <a:gd fmla="val 3019" name="adj"/>
            </a:avLst>
          </a:prstGeom>
          <a:solidFill>
            <a:srgbClr val="F9FCFF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8302752" y="26974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D7DD2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8302752" y="3063240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Add cost, competition, and demand data.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8302752" y="3721608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44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43446"/>
                </a:solidFill>
                <a:latin typeface="Arial"/>
                <a:ea typeface="Arial"/>
                <a:cs typeface="Arial"/>
                <a:sym typeface="Arial"/>
              </a:rPr>
              <a:t>• Turn price advice into profit advice.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914400" y="5129799"/>
            <a:ext cx="10378500" cy="720900"/>
          </a:xfrm>
          <a:prstGeom prst="roundRect">
            <a:avLst>
              <a:gd fmla="val 14545" name="adj"/>
            </a:avLst>
          </a:prstGeom>
          <a:solidFill>
            <a:srgbClr val="123B63"/>
          </a:solidFill>
          <a:ln cap="flat" cmpd="sng" w="12700">
            <a:solidFill>
              <a:srgbClr val="D7E1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1170432" y="5376672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Bottom line: the resort looks underpriced, but the safest business move is a gradual increase with clear monitoring.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>
            <p:ph idx="4294967295" type="sldNum"/>
          </p:nvPr>
        </p:nvSpPr>
        <p:spPr>
          <a:xfrm>
            <a:off x="1156716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